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93" d="100"/>
          <a:sy n="93" d="100"/>
        </p:scale>
        <p:origin x="6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Robert C. Martin, The Single Responsibility Principle (2014). https://blog.cleancoder.com/uncle-bob/2014/05/08/SingleReponsibilityPrinciple.html</a:t>
            </a:r>
          </a:p>
          <a:p>
            <a:r>
              <a:t>Bertrand Meyer, Some contributions (2021). https://bertrandmeyer.com/2021/02/26/some-contributions/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Robert C. Martin, The Single Responsibility Principle (2014). https://blog.cleancoder.com/uncle-bob/2014/05/08/SingleReponsibilityPrinciple.html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Robert C. Martin, The Single Responsibility Principle (2014). https://blog.cleancoder.com/uncle-bob/2014/05/08/SingleReponsibilityPrinciple.html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Bertrand Meyer, Object-Oriented Software Construction, 2e éd. (1997), section 3.3, pp. 57–61. https://bertrandmeyer.com/wp-content/upLoads/OOSC2.pdf</a:t>
            </a:r>
          </a:p>
          <a:p>
            <a:r>
              <a:t>Robert C. Martin, The Open Closed Principle (2014). https://blog.cleancoder.com/uncle-bob/2014/05/12/TheOpenClosedPrinciple.html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Bertrand Meyer, Object-Oriented Software Construction, 2e éd. (1997), section 3.3, pp. 57–61. https://bertrandmeyer.com/wp-content/upLoads/OOSC2.pdf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Exemples pédagogiques de 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Robert C. Martin, The Single Responsibility Principle (2014). https://blog.cleancoder.com/uncle-bob/2014/05/08/SingleReponsibilityPrinciple.html</a:t>
            </a:r>
          </a:p>
          <a:p>
            <a:r>
              <a:t>Bertrand Meyer, Object-Oriented Software Construction, 2e éd. (1997), section 3.3, pp. 57–61. https://bertrandmeyer.com/wp-content/upLoads/OOSC2.pdf</a:t>
            </a:r>
          </a:p>
          <a:p>
            <a:r>
              <a:t>Robert C. Martin, The Open Closed Principle (2014). https://blog.cleancoder.com/uncle-bob/2014/05/12/TheOpenClosedPrinciple.html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37A391-47A2-48CD-8551-247B1EC16B36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SRP ET OCP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5E6389-8CCC-4D89-97AD-F5B41B13DD25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Concevoir un logiciel qui peut évoluer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E2352-5EFE-42E6-B142-7D40A2CD7DF2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C34D5-F309-4CA2-AF61-8F4228FAC956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2A366-B9CE-4037-B2A2-FF3B341CA691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362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2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Responsabilité unique</a:t>
            </a:r>
          </a:p>
          <a:p>
            <a:pPr algn="l">
              <a:defRPr sz="42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et principe Ouvert/Fermé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BD61D-E00E-4BF5-9CBD-5EE025C537AB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3239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Un logiciel doit produire un résultat correct, mais aussi rester compréhensible et modifiable au fil des demandes.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6B17F-D29C-43F1-99D9-C084A59AE0D9}"/>
              </a:ext>
            </a:extLst>
          </p:cNvPr>
          <p:cNvSpPr>
            <a:spLocks noGrp="1"/>
          </p:cNvSpPr>
          <p:nvPr/>
        </p:nvSpPr>
        <p:spPr>
          <a:xfrm>
            <a:off x="619125" y="4953000"/>
            <a:ext cx="676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SRP : organiser les responsabilités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31845-1D30-41AF-B62C-BBD1A5E8D791}"/>
              </a:ext>
            </a:extLst>
          </p:cNvPr>
          <p:cNvSpPr>
            <a:spLocks noGrp="1"/>
          </p:cNvSpPr>
          <p:nvPr/>
        </p:nvSpPr>
        <p:spPr>
          <a:xfrm>
            <a:off x="619125" y="5505450"/>
            <a:ext cx="6381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Identifier les raisons de changer et répartir les traitements dans des composants cohérents.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370A7A-AB14-4857-8E16-39875C971A2E}"/>
              </a:ext>
            </a:extLst>
          </p:cNvPr>
          <p:cNvSpPr>
            <a:spLocks noGrp="1"/>
          </p:cNvSpPr>
          <p:nvPr/>
        </p:nvSpPr>
        <p:spPr>
          <a:xfrm>
            <a:off x="7953375" y="49530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OCP : préparer les extensions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CBCE0-0CE8-4B01-B3F6-1E044D572249}"/>
              </a:ext>
            </a:extLst>
          </p:cNvPr>
          <p:cNvSpPr>
            <a:spLocks noGrp="1"/>
          </p:cNvSpPr>
          <p:nvPr/>
        </p:nvSpPr>
        <p:spPr>
          <a:xfrm>
            <a:off x="7953375" y="5505450"/>
            <a:ext cx="6286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Accueillir certaines évolutions en préservant la logique des composants déjà utilisés.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A6D95-913D-4623-80B7-B6486A3A91E7}"/>
              </a:ext>
            </a:extLst>
          </p:cNvPr>
          <p:cNvSpPr>
            <a:spLocks noGrp="1"/>
          </p:cNvSpPr>
          <p:nvPr/>
        </p:nvSpPr>
        <p:spPr>
          <a:xfrm>
            <a:off x="619125" y="716280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Objectif du cours : comprendre les principes, leurs origines et leurs conséquences sur le code.</a:t>
            </a:r>
          </a:p>
        </p:txBody>
      </p:sp>
    </p:spTree>
    <p:extLst>
      <p:ext uri="{BB962C8B-B14F-4D97-AF65-F5344CB8AC3E}">
        <p14:creationId xmlns:p14="http://schemas.microsoft.com/office/powerpoint/2010/main" val="126484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07A259-D9AB-4165-B7F1-16BB58792532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LES ENJEUX DE LA CONCEPTION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D1E81-99A7-4CE7-97E9-5F0219CAA667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Pourquoi les changements deviennent-ils difficiles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E8563-B665-4B26-A1DF-CD79DFF1CE08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D5EF0-462C-4548-BB17-159CA93BE824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15E6B-421A-44CB-95E4-0CBDA3E89400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Les causes de changement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8EA859-98C9-4DCE-B9FF-18F4EBF36762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657225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utilisateurs demandent de nouvelles fonctions.</a:t>
            </a:r>
          </a:p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règles métier évoluent.</a:t>
            </a:r>
          </a:p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technologies de stockage changent.</a:t>
            </a:r>
          </a:p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La présentation des résultats se transforme.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C1071-D7F1-4E98-9DFD-E6BE4B32F0AD}"/>
              </a:ext>
            </a:extLst>
          </p:cNvPr>
          <p:cNvSpPr>
            <a:spLocks noGrp="1"/>
          </p:cNvSpPr>
          <p:nvPr/>
        </p:nvSpPr>
        <p:spPr>
          <a:xfrm>
            <a:off x="8048625" y="185737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Les conséquences possibles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9FE882-2B08-474D-B273-FE3D01D372E8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6334125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Lorsque ces préoccupations se mélangent, une modification oblige à intervenir dans plusieurs parties du programme et peut perturber un comportement sans rapport avec la demande.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619125" y="4953000"/>
          <a:ext cx="14001750" cy="2524124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0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Notion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Définition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Maintenance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Corriger, adapter et faire évoluer un logiciel.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Régression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Dysfonctionnement introduit dans une fonction auparavant correcte.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Dépendance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Lien par lequel un composant utilise un autre composant.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35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ECE103B-59CC-4F62-80F3-A7FC59B54913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REPÈRES HISTORIQUES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CC3F02-A080-47F9-BF47-D74717D979E9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origines : modularité et maîtrise du changement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F8D11F-6816-4D6B-9843-2A1D0EF7AECA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FCDCE2-AEB3-4842-8927-376F555713A7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BA692-0888-4640-B72E-EC0FC24A2E6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3190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1972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9F12B-CA57-40A9-8923-0FCC1E3BC363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David Parnas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45A76-2F33-46F9-866E-96CD82C75E7D}"/>
              </a:ext>
            </a:extLst>
          </p:cNvPr>
          <p:cNvSpPr>
            <a:spLocks noGrp="1"/>
          </p:cNvSpPr>
          <p:nvPr/>
        </p:nvSpPr>
        <p:spPr>
          <a:xfrm>
            <a:off x="4095750" y="2419350"/>
            <a:ext cx="10096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Décomposer le système autour des décisions de conception susceptibles de changer. Chaque module masque certains détails aux autres.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8A1CFC-0F16-4940-AA9B-75BB1F6294D0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3190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1988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EF6B90-9596-4FAA-9327-ED4345C20D06}"/>
              </a:ext>
            </a:extLst>
          </p:cNvPr>
          <p:cNvSpPr>
            <a:spLocks noGrp="1"/>
          </p:cNvSpPr>
          <p:nvPr/>
        </p:nvSpPr>
        <p:spPr>
          <a:xfrm>
            <a:off x="4095750" y="35242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Bertrand Meyer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48462-BB0B-4C79-8BF0-E363660CF26C}"/>
              </a:ext>
            </a:extLst>
          </p:cNvPr>
          <p:cNvSpPr>
            <a:spLocks noGrp="1"/>
          </p:cNvSpPr>
          <p:nvPr/>
        </p:nvSpPr>
        <p:spPr>
          <a:xfrm>
            <a:off x="4095750" y="3990975"/>
            <a:ext cx="10096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Présenter le principe Ouvert/Fermé dans Object-Oriented Software Construction. Un composant doit être utilisable et rester extensible.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5E1C8-F9E9-424C-8DB4-810369313A2A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3190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Fin des années 1990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7FCF09-F7C0-4869-A61F-CC74803672AB}"/>
              </a:ext>
            </a:extLst>
          </p:cNvPr>
          <p:cNvSpPr>
            <a:spLocks noGrp="1"/>
          </p:cNvSpPr>
          <p:nvPr/>
        </p:nvSpPr>
        <p:spPr>
          <a:xfrm>
            <a:off x="4095750" y="5095875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Robert C. Martin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AD8034-AF70-42F2-92E9-1BF4EF8927B7}"/>
              </a:ext>
            </a:extLst>
          </p:cNvPr>
          <p:cNvSpPr>
            <a:spLocks noGrp="1"/>
          </p:cNvSpPr>
          <p:nvPr/>
        </p:nvSpPr>
        <p:spPr>
          <a:xfrm>
            <a:off x="4095750" y="5562600"/>
            <a:ext cx="10096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Formuler le principe de responsabilité unique dans le prolongement des travaux sur la modularité et la séparation des préoccupations.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299D5E-CEB5-4627-A1E8-5E74FDE2DCAF}"/>
              </a:ext>
            </a:extLst>
          </p:cNvPr>
          <p:cNvSpPr>
            <a:spLocks noGrp="1"/>
          </p:cNvSpPr>
          <p:nvPr/>
        </p:nvSpPr>
        <p:spPr>
          <a:xfrm>
            <a:off x="619125" y="7000875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Une même préoccupation : limiter la propagation des changements dans le logiciel.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C4805B-5999-4334-8A70-228A7E1D2051}"/>
              </a:ext>
            </a:extLst>
          </p:cNvPr>
          <p:cNvSpPr>
            <a:spLocks noGrp="1"/>
          </p:cNvSpPr>
          <p:nvPr/>
        </p:nvSpPr>
        <p:spPr>
          <a:xfrm>
            <a:off x="619125" y="7696200"/>
            <a:ext cx="1371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Sources : Parnas (1972), Meyer (1988), Martin (2014, retour historique). Références détaillées dans les notes.</a:t>
            </a:r>
          </a:p>
        </p:txBody>
      </p:sp>
    </p:spTree>
    <p:extLst>
      <p:ext uri="{BB962C8B-B14F-4D97-AF65-F5344CB8AC3E}">
        <p14:creationId xmlns:p14="http://schemas.microsoft.com/office/powerpoint/2010/main" val="29975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FC1E45-C2E3-499A-A587-04B106386A37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 PÉRIMÈTRE DE CE CHAPITRE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F6CA0-F91A-4043-9917-66573AFEC14F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SOLID : cinq principes de conception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AFAE2-6847-40A9-BA26-6B7A309FA099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C4A253-ADD0-4E67-AECE-A9EA1FCDAAA9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238BF-C0E3-4DBB-971C-08A46193E4A2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13906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SOLID rassemble des repères pour organiser le code et ses dépendances. Leur application dépend des besoins réels du logiciel et de ses évolutions.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619125" y="2857500"/>
          <a:ext cx="14001750" cy="371475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Lettre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Nom anglais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Principe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Single Responsibility Principle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Responsabilité unique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Open/Closed Principle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Ouvert/Fermé</a:t>
                      </a:r>
                    </a:p>
                  </a:txBody>
                  <a:tcPr marL="152400" marR="152400" marT="114300" marB="114300" anchor="ctr"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Liskov Substitution Principle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Substitution de Liskov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Interface Segregation Principle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Ségrégation des interfaces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Dependency Inversion Principle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Inversion des dépendances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794AE75-1D8E-4954-A3D9-9852D367854C}"/>
              </a:ext>
            </a:extLst>
          </p:cNvPr>
          <p:cNvSpPr>
            <a:spLocks noGrp="1"/>
          </p:cNvSpPr>
          <p:nvPr/>
        </p:nvSpPr>
        <p:spPr>
          <a:xfrm>
            <a:off x="619125" y="716280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Ce premier chapitre traite S et O. Les principes L, I et D seront étudiés dans un second temps.</a:t>
            </a:r>
          </a:p>
        </p:txBody>
      </p:sp>
    </p:spTree>
    <p:extLst>
      <p:ext uri="{BB962C8B-B14F-4D97-AF65-F5344CB8AC3E}">
        <p14:creationId xmlns:p14="http://schemas.microsoft.com/office/powerpoint/2010/main" val="76469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EE3A50-CD6D-4ADB-B4EE-F114DA7BCCF1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SINGLE RESPONSIBILITY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D9738-34AF-461F-BCA4-EBCCE9FDAEEF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SRP : une responsabilité cohérente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A5AC2A-2778-4C5C-B548-4C921B42C96F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336C1-CEA7-4211-8C56-FE24A2E819D6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03998-513C-46F7-9677-46B55027D503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1362075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« Une classe ne doit avoir qu’une seule</a:t>
            </a:r>
          </a:p>
          <a:p>
            <a:pPr algn="l">
              <a:defRPr sz="32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raison de changer. 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C38FC-9501-4B0B-83BD-0BAA313C15AB}"/>
              </a:ext>
            </a:extLst>
          </p:cNvPr>
          <p:cNvSpPr>
            <a:spLocks noGrp="1"/>
          </p:cNvSpPr>
          <p:nvPr/>
        </p:nvSpPr>
        <p:spPr>
          <a:xfrm>
            <a:off x="619125" y="3171825"/>
            <a:ext cx="1362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Formulation française du principe de Robert C. Martin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DD79F9-8417-49E6-828D-61A3AADD26BC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137160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Une responsabilité correspond à un ensemble cohérent de traitements qui répondent à une même préoccupation. Une classe peut donc contenir plusieurs méthodes et respecter le SRP.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6EBB9-AD0B-42C2-9A86-B34C6476D1BE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Comment identifier cette responsabilité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4E3B9A-73E6-4720-B397-81E0B6209651}"/>
              </a:ext>
            </a:extLst>
          </p:cNvPr>
          <p:cNvSpPr>
            <a:spLocks noGrp="1"/>
          </p:cNvSpPr>
          <p:nvPr/>
        </p:nvSpPr>
        <p:spPr>
          <a:xfrm>
            <a:off x="619125" y="5981700"/>
            <a:ext cx="13620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Rechercher les demandes qui feraient modifier la classe : qui les exprime, pour quel besoin et pour quelle raison ? Des besoins qui évoluent indépendamment signalent des responsabilités à distinguer.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0D82C6-6A10-454F-BAEF-B54B69C858A0}"/>
              </a:ext>
            </a:extLst>
          </p:cNvPr>
          <p:cNvSpPr>
            <a:spLocks noGrp="1"/>
          </p:cNvSpPr>
          <p:nvPr/>
        </p:nvSpPr>
        <p:spPr>
          <a:xfrm>
            <a:off x="619125" y="73342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 critère déterminant est la cohérence des raisons de changer, pas le nombre de méthodes.</a:t>
            </a:r>
          </a:p>
        </p:txBody>
      </p:sp>
    </p:spTree>
    <p:extLst>
      <p:ext uri="{BB962C8B-B14F-4D97-AF65-F5344CB8AC3E}">
        <p14:creationId xmlns:p14="http://schemas.microsoft.com/office/powerpoint/2010/main" val="62652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C7DE83-9AAD-465E-A16F-DBFE81B082DC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SRP • EXEMPLE DES COMMANDES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1CB63-7909-4F10-AA3E-4B931A7146A7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Reconnaître une classe « fourre-tout 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07C42-FBE4-4337-9006-54E8EDACD95B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AF1E2-FE5F-4628-99AF-65CF8567E664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AA05B-933B-4568-984B-96E08981912B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5191125" cy="347662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A1525-E3C0-4876-B14A-5B1DEB16FC6A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4848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GestionCommandes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4349B3-B472-49F6-8189-7E2DD86D4609}"/>
              </a:ext>
            </a:extLst>
          </p:cNvPr>
          <p:cNvSpPr>
            <a:spLocks noGrp="1"/>
          </p:cNvSpPr>
          <p:nvPr/>
        </p:nvSpPr>
        <p:spPr>
          <a:xfrm>
            <a:off x="790575" y="2590800"/>
            <a:ext cx="4848225" cy="2847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calculerTotal()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appliquerRemise()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ouvrirConnexionBDD()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enregistrerCommande()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genererFacturePDF()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envoyerEmail()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6429375" y="2047875"/>
          <a:ext cx="8143875" cy="3476625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Préoccupation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Raison de changer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Calcul métier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Nouvelles conditions de remise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Persistance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Nouveau mécanisme d’accès à la BDD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Présentation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Nouvelle mise en page de la facture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Notification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Autre service d’envoi des courriels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F86CA51-E107-4987-8CA8-C0F831541CB4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3811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Toutes ces méthodes concernent les commandes, mais elles répondent à des préoccupations différentes. Le nom de l’objet métier ne suffit donc pas à définir une responsabilité unique.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97A332-8074-4FCD-8F2C-D00ED567C40F}"/>
              </a:ext>
            </a:extLst>
          </p:cNvPr>
          <p:cNvSpPr>
            <a:spLocks noGrp="1"/>
          </p:cNvSpPr>
          <p:nvPr/>
        </p:nvSpPr>
        <p:spPr>
          <a:xfrm>
            <a:off x="619125" y="7286625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Une classe fourre-tout concentre plusieurs raisons indépendantes de changer.</a:t>
            </a:r>
          </a:p>
        </p:txBody>
      </p:sp>
    </p:spTree>
    <p:extLst>
      <p:ext uri="{BB962C8B-B14F-4D97-AF65-F5344CB8AC3E}">
        <p14:creationId xmlns:p14="http://schemas.microsoft.com/office/powerpoint/2010/main" val="90982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DE233EB-D656-4BF4-BED3-F64A6C3D6C71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LES EFFETS D’UN MÉLANGE DE RESPONSABILITÉS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AFA190-E239-4FE5-985F-736E3F3B3BE3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SRP : plusieurs changements touchent la même classe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C0CCC-7E6B-4E34-9DF6-2B88EB2BA11F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7912B7-819A-49B9-B67C-9704B751D745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BDDBB-6D92-4906-9080-9CCF85042B79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810250" cy="109537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A34E3-9483-4FEF-9FB4-C1DF180EFACF}"/>
              </a:ext>
            </a:extLst>
          </p:cNvPr>
          <p:cNvSpPr>
            <a:spLocks noGrp="1"/>
          </p:cNvSpPr>
          <p:nvPr/>
        </p:nvSpPr>
        <p:spPr>
          <a:xfrm>
            <a:off x="790575" y="2133600"/>
            <a:ext cx="5467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Règle métier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DB021E-F1F6-43B5-AABB-7C97AD35E359}"/>
              </a:ext>
            </a:extLst>
          </p:cNvPr>
          <p:cNvSpPr>
            <a:spLocks noGrp="1"/>
          </p:cNvSpPr>
          <p:nvPr/>
        </p:nvSpPr>
        <p:spPr>
          <a:xfrm>
            <a:off x="790575" y="2543175"/>
            <a:ext cx="54673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La remise passe de 5 % à 8 %.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D2E59-632D-4221-BB2E-6710729DF2C1}"/>
              </a:ext>
            </a:extLst>
          </p:cNvPr>
          <p:cNvSpPr>
            <a:spLocks noGrp="1"/>
          </p:cNvSpPr>
          <p:nvPr/>
        </p:nvSpPr>
        <p:spPr>
          <a:xfrm>
            <a:off x="8810625" y="2000250"/>
            <a:ext cx="5810250" cy="109537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1AC5DC-0CCD-4822-8F9B-F481B61BAF7F}"/>
              </a:ext>
            </a:extLst>
          </p:cNvPr>
          <p:cNvSpPr>
            <a:spLocks noGrp="1"/>
          </p:cNvSpPr>
          <p:nvPr/>
        </p:nvSpPr>
        <p:spPr>
          <a:xfrm>
            <a:off x="8982075" y="2133600"/>
            <a:ext cx="5467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Accès aux données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17462-648B-4EB1-A6E6-92A218CD8315}"/>
              </a:ext>
            </a:extLst>
          </p:cNvPr>
          <p:cNvSpPr>
            <a:spLocks noGrp="1"/>
          </p:cNvSpPr>
          <p:nvPr/>
        </p:nvSpPr>
        <p:spPr>
          <a:xfrm>
            <a:off x="8982075" y="2543175"/>
            <a:ext cx="54673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 mécanisme de stockage évolue.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4AAF41-B1F9-46EB-B9EA-0F035F03D8D2}"/>
              </a:ext>
            </a:extLst>
          </p:cNvPr>
          <p:cNvSpPr>
            <a:spLocks noGrp="1"/>
          </p:cNvSpPr>
          <p:nvPr/>
        </p:nvSpPr>
        <p:spPr>
          <a:xfrm>
            <a:off x="3238500" y="4095750"/>
            <a:ext cx="8763000" cy="1333500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02FE8-2573-415D-9249-03903F781CC5}"/>
              </a:ext>
            </a:extLst>
          </p:cNvPr>
          <p:cNvSpPr>
            <a:spLocks noGrp="1"/>
          </p:cNvSpPr>
          <p:nvPr/>
        </p:nvSpPr>
        <p:spPr>
          <a:xfrm>
            <a:off x="3409950" y="4229100"/>
            <a:ext cx="8420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GestionCommandes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E909F7-4C86-40DC-B05C-7EC0BF558128}"/>
              </a:ext>
            </a:extLst>
          </p:cNvPr>
          <p:cNvSpPr>
            <a:spLocks noGrp="1"/>
          </p:cNvSpPr>
          <p:nvPr/>
        </p:nvSpPr>
        <p:spPr>
          <a:xfrm>
            <a:off x="3409950" y="4638675"/>
            <a:ext cx="84201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 des prix + accès BDD + facture PDF + courriel</a:t>
            </a:r>
          </a:p>
        </p:txBody>
      </p:sp>
      <p:cxnSp>
        <p:nvCxnSpPr>
          <p:cNvPr id="33" name="Elbow Connector 32"/>
          <p:cNvCxnSpPr>
            <a:stCxn id="5" idx="2"/>
            <a:endCxn id="11" idx="1"/>
          </p:cNvCxnSpPr>
          <p:nvPr/>
        </p:nvCxnSpPr>
        <p:spPr>
          <a:xfrm flipH="1">
            <a:off x="3238500" y="3095625"/>
            <a:ext cx="285750" cy="1666875"/>
          </a:xfrm>
          <a:prstGeom prst="bentConnector3">
            <a:avLst>
              <a:gd name="adj1" fmla="val 0"/>
            </a:avLst>
          </a:prstGeom>
          <a:ln w="23813">
            <a:solidFill>
              <a:srgbClr val="176B91"/>
            </a:solidFill>
            <a:prstDash val="solid"/>
            <a:tailEnd type="arrow" w="med" len="med"/>
          </a:ln>
        </p:spPr>
      </p:cxnSp>
      <p:cxnSp>
        <p:nvCxnSpPr>
          <p:cNvPr id="34" name="Elbow Connector 33"/>
          <p:cNvCxnSpPr>
            <a:stCxn id="8" idx="2"/>
            <a:endCxn id="11" idx="3"/>
          </p:cNvCxnSpPr>
          <p:nvPr/>
        </p:nvCxnSpPr>
        <p:spPr>
          <a:xfrm>
            <a:off x="11715750" y="3095625"/>
            <a:ext cx="285750" cy="1666875"/>
          </a:xfrm>
          <a:prstGeom prst="bentConnector3">
            <a:avLst>
              <a:gd name="adj1" fmla="val 0"/>
            </a:avLst>
          </a:prstGeom>
          <a:ln w="23813">
            <a:solidFill>
              <a:srgbClr val="176B91"/>
            </a:solidFill>
            <a:prstDash val="solid"/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579AC61-6074-4B3A-AEEA-B435EDCECE3A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impose une modification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6CFDAA-E754-4868-AAFE-8D97182FF340}"/>
              </a:ext>
            </a:extLst>
          </p:cNvPr>
          <p:cNvSpPr>
            <a:spLocks noGrp="1"/>
          </p:cNvSpPr>
          <p:nvPr/>
        </p:nvSpPr>
        <p:spPr>
          <a:xfrm>
            <a:off x="9048750" y="333375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impose une modification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D4101A-4A2D-4882-ADFB-2ED501EB18E2}"/>
              </a:ext>
            </a:extLst>
          </p:cNvPr>
          <p:cNvSpPr>
            <a:spLocks noGrp="1"/>
          </p:cNvSpPr>
          <p:nvPr/>
        </p:nvSpPr>
        <p:spPr>
          <a:xfrm>
            <a:off x="619125" y="5905500"/>
            <a:ext cx="13906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Dans les deux cas, le développeur intervient dans la même classe. Il doit comprendre les interactions entre ses traitements et vérifier les comportements que la modification peut affecter.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ADA858-825E-4431-96DE-CB00460D9A32}"/>
              </a:ext>
            </a:extLst>
          </p:cNvPr>
          <p:cNvSpPr>
            <a:spLocks noGrp="1"/>
          </p:cNvSpPr>
          <p:nvPr/>
        </p:nvSpPr>
        <p:spPr>
          <a:xfrm>
            <a:off x="619125" y="71818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Une régression n’est pas automatique. Le mélange des responsabilités complique l’analyse du risque.</a:t>
            </a:r>
          </a:p>
        </p:txBody>
      </p:sp>
    </p:spTree>
    <p:extLst>
      <p:ext uri="{BB962C8B-B14F-4D97-AF65-F5344CB8AC3E}">
        <p14:creationId xmlns:p14="http://schemas.microsoft.com/office/powerpoint/2010/main" val="204028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48B005E-0DC8-48B3-8DE1-78F1DE6985A8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UNE RÉPARTITION POSSIBLE DES RESPONSABILITÉS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5347E5-F316-4E9C-BFEE-5088C1FA5B15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SRP : localiser les changements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5AD8B-1BE9-41DD-B9E2-7A8839FFD9BF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4E050-AF4D-4845-A7FE-AC73AA2A2E9D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2E776-BAC1-4583-AFAF-294FB45F1006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ÉVOLUTION MÉTIER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8D53B-6AC5-419A-BC11-0B2383241932}"/>
              </a:ext>
            </a:extLst>
          </p:cNvPr>
          <p:cNvSpPr>
            <a:spLocks noGrp="1"/>
          </p:cNvSpPr>
          <p:nvPr/>
        </p:nvSpPr>
        <p:spPr>
          <a:xfrm>
            <a:off x="8143875" y="1714500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ÉVOLUTION DU STOCKAGE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BE6C16-D43F-4C67-87B6-8468E4F0879D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3000375" cy="138112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527E0-D6CB-4A75-B9C3-001906CFFADF}"/>
              </a:ext>
            </a:extLst>
          </p:cNvPr>
          <p:cNvSpPr>
            <a:spLocks noGrp="1"/>
          </p:cNvSpPr>
          <p:nvPr/>
        </p:nvSpPr>
        <p:spPr>
          <a:xfrm>
            <a:off x="790575" y="246697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CalculCommande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ED400F-C110-45A3-B608-8205797215E3}"/>
              </a:ext>
            </a:extLst>
          </p:cNvPr>
          <p:cNvSpPr>
            <a:spLocks noGrp="1"/>
          </p:cNvSpPr>
          <p:nvPr/>
        </p:nvSpPr>
        <p:spPr>
          <a:xfrm>
            <a:off x="790575" y="287655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Prix et remises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AA2D1-8B6C-4AF3-A572-2CCD33B66801}"/>
              </a:ext>
            </a:extLst>
          </p:cNvPr>
          <p:cNvSpPr>
            <a:spLocks noGrp="1"/>
          </p:cNvSpPr>
          <p:nvPr/>
        </p:nvSpPr>
        <p:spPr>
          <a:xfrm>
            <a:off x="3905250" y="233362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CA8576-3D6F-4C49-8F14-C2737F9B72D8}"/>
              </a:ext>
            </a:extLst>
          </p:cNvPr>
          <p:cNvSpPr>
            <a:spLocks noGrp="1"/>
          </p:cNvSpPr>
          <p:nvPr/>
        </p:nvSpPr>
        <p:spPr>
          <a:xfrm>
            <a:off x="4076700" y="246697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StockageCommandes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17CC7E-F64F-4CBC-A532-BE69F6669EF9}"/>
              </a:ext>
            </a:extLst>
          </p:cNvPr>
          <p:cNvSpPr>
            <a:spLocks noGrp="1"/>
          </p:cNvSpPr>
          <p:nvPr/>
        </p:nvSpPr>
        <p:spPr>
          <a:xfrm>
            <a:off x="4076700" y="287655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Lecture et enregistrement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AD657-AD19-494E-AE87-D41E88AD1731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E35F0-F11A-474F-9F8E-F1FF380F71F4}"/>
              </a:ext>
            </a:extLst>
          </p:cNvPr>
          <p:cNvSpPr>
            <a:spLocks noGrp="1"/>
          </p:cNvSpPr>
          <p:nvPr/>
        </p:nvSpPr>
        <p:spPr>
          <a:xfrm>
            <a:off x="790575" y="427672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GenerateurFacture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B524AC-E215-4344-9221-D3255E9E9D04}"/>
              </a:ext>
            </a:extLst>
          </p:cNvPr>
          <p:cNvSpPr>
            <a:spLocks noGrp="1"/>
          </p:cNvSpPr>
          <p:nvPr/>
        </p:nvSpPr>
        <p:spPr>
          <a:xfrm>
            <a:off x="790575" y="468630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Présentation de la facture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2278EE-60E9-45BF-AA91-3C007A7C9821}"/>
              </a:ext>
            </a:extLst>
          </p:cNvPr>
          <p:cNvSpPr>
            <a:spLocks noGrp="1"/>
          </p:cNvSpPr>
          <p:nvPr/>
        </p:nvSpPr>
        <p:spPr>
          <a:xfrm>
            <a:off x="3905250" y="414337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FAE54-8DBC-452A-9254-7964E5175081}"/>
              </a:ext>
            </a:extLst>
          </p:cNvPr>
          <p:cNvSpPr>
            <a:spLocks noGrp="1"/>
          </p:cNvSpPr>
          <p:nvPr/>
        </p:nvSpPr>
        <p:spPr>
          <a:xfrm>
            <a:off x="4076700" y="427672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NotificationCommande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DBF43A-EB2A-4965-BBEE-EE427564F31E}"/>
              </a:ext>
            </a:extLst>
          </p:cNvPr>
          <p:cNvSpPr>
            <a:spLocks noGrp="1"/>
          </p:cNvSpPr>
          <p:nvPr/>
        </p:nvSpPr>
        <p:spPr>
          <a:xfrm>
            <a:off x="4076700" y="468630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Envoi des notifications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711BBE-DCA3-47D7-A315-70768DA87EE1}"/>
              </a:ext>
            </a:extLst>
          </p:cNvPr>
          <p:cNvSpPr>
            <a:spLocks noGrp="1"/>
          </p:cNvSpPr>
          <p:nvPr/>
        </p:nvSpPr>
        <p:spPr>
          <a:xfrm>
            <a:off x="8143875" y="233362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5DFC77-F8FA-45F5-B94A-F4BC3A14C9E0}"/>
              </a:ext>
            </a:extLst>
          </p:cNvPr>
          <p:cNvSpPr>
            <a:spLocks noGrp="1"/>
          </p:cNvSpPr>
          <p:nvPr/>
        </p:nvSpPr>
        <p:spPr>
          <a:xfrm>
            <a:off x="8315325" y="246697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CalculCommande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B869C4-E62D-49D5-981C-018130841708}"/>
              </a:ext>
            </a:extLst>
          </p:cNvPr>
          <p:cNvSpPr>
            <a:spLocks noGrp="1"/>
          </p:cNvSpPr>
          <p:nvPr/>
        </p:nvSpPr>
        <p:spPr>
          <a:xfrm>
            <a:off x="8315325" y="287655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Prix et remises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5ADD54-9728-4FF6-9FE8-AFFCA10AFA91}"/>
              </a:ext>
            </a:extLst>
          </p:cNvPr>
          <p:cNvSpPr>
            <a:spLocks noGrp="1"/>
          </p:cNvSpPr>
          <p:nvPr/>
        </p:nvSpPr>
        <p:spPr>
          <a:xfrm>
            <a:off x="11430000" y="2333625"/>
            <a:ext cx="3000375" cy="138112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ADCE13-7EFD-4FBB-BD33-C9C96DD9D8E7}"/>
              </a:ext>
            </a:extLst>
          </p:cNvPr>
          <p:cNvSpPr>
            <a:spLocks noGrp="1"/>
          </p:cNvSpPr>
          <p:nvPr/>
        </p:nvSpPr>
        <p:spPr>
          <a:xfrm>
            <a:off x="11601450" y="246697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StockageCommandes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42B419-356F-49B8-9532-A64649A9B66C}"/>
              </a:ext>
            </a:extLst>
          </p:cNvPr>
          <p:cNvSpPr>
            <a:spLocks noGrp="1"/>
          </p:cNvSpPr>
          <p:nvPr/>
        </p:nvSpPr>
        <p:spPr>
          <a:xfrm>
            <a:off x="11601450" y="287655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Lecture et enregistrement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CA3D5D-04B5-4E54-8574-17011C2105AA}"/>
              </a:ext>
            </a:extLst>
          </p:cNvPr>
          <p:cNvSpPr>
            <a:spLocks noGrp="1"/>
          </p:cNvSpPr>
          <p:nvPr/>
        </p:nvSpPr>
        <p:spPr>
          <a:xfrm>
            <a:off x="8143875" y="414337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EAF2F9-2DB9-4FEE-BCA1-2CC94929BDDD}"/>
              </a:ext>
            </a:extLst>
          </p:cNvPr>
          <p:cNvSpPr>
            <a:spLocks noGrp="1"/>
          </p:cNvSpPr>
          <p:nvPr/>
        </p:nvSpPr>
        <p:spPr>
          <a:xfrm>
            <a:off x="8315325" y="427672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GenerateurFacture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58C299-69BD-4F37-89DF-A6A2758F8C51}"/>
              </a:ext>
            </a:extLst>
          </p:cNvPr>
          <p:cNvSpPr>
            <a:spLocks noGrp="1"/>
          </p:cNvSpPr>
          <p:nvPr/>
        </p:nvSpPr>
        <p:spPr>
          <a:xfrm>
            <a:off x="8315325" y="468630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Présentation de la facture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17CFF4-F521-4CE2-9C26-070F4BE918D6}"/>
              </a:ext>
            </a:extLst>
          </p:cNvPr>
          <p:cNvSpPr>
            <a:spLocks noGrp="1"/>
          </p:cNvSpPr>
          <p:nvPr/>
        </p:nvSpPr>
        <p:spPr>
          <a:xfrm>
            <a:off x="11430000" y="4143375"/>
            <a:ext cx="3000375" cy="1381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B9924B-9B89-4011-91FA-267C2CA1BC88}"/>
              </a:ext>
            </a:extLst>
          </p:cNvPr>
          <p:cNvSpPr>
            <a:spLocks noGrp="1"/>
          </p:cNvSpPr>
          <p:nvPr/>
        </p:nvSpPr>
        <p:spPr>
          <a:xfrm>
            <a:off x="11601450" y="4276725"/>
            <a:ext cx="2657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NotificationCommande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2D4625-85A3-4DE7-A3ED-3946B8DD22B7}"/>
              </a:ext>
            </a:extLst>
          </p:cNvPr>
          <p:cNvSpPr>
            <a:spLocks noGrp="1"/>
          </p:cNvSpPr>
          <p:nvPr/>
        </p:nvSpPr>
        <p:spPr>
          <a:xfrm>
            <a:off x="11601450" y="4686300"/>
            <a:ext cx="265747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Envoi des notifications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939C30-C948-414E-B85C-B05B1396E2F1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La règle de remise change dans le calcul.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5C279-99A1-4FF3-8B62-2A823F0AD7A0}"/>
              </a:ext>
            </a:extLst>
          </p:cNvPr>
          <p:cNvSpPr>
            <a:spLocks noGrp="1"/>
          </p:cNvSpPr>
          <p:nvPr/>
        </p:nvSpPr>
        <p:spPr>
          <a:xfrm>
            <a:off x="8143875" y="6191250"/>
            <a:ext cx="647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Le détail de persistance change dans le stockage.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460BEB-BEFE-4429-815B-A4B79B45BEB5}"/>
              </a:ext>
            </a:extLst>
          </p:cNvPr>
          <p:cNvSpPr>
            <a:spLocks noGrp="1"/>
          </p:cNvSpPr>
          <p:nvPr/>
        </p:nvSpPr>
        <p:spPr>
          <a:xfrm>
            <a:off x="619125" y="720090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Périmètre attendu si les contrats restent compatibles. Les composants continuent de collaborer.</a:t>
            </a:r>
          </a:p>
        </p:txBody>
      </p:sp>
    </p:spTree>
    <p:extLst>
      <p:ext uri="{BB962C8B-B14F-4D97-AF65-F5344CB8AC3E}">
        <p14:creationId xmlns:p14="http://schemas.microsoft.com/office/powerpoint/2010/main" val="95910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E4F6C2-E820-468F-9E80-41FF5BB8C438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COHÉSION ET COUPLAGE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4B6593-B1F9-4CD7-82C9-84E138C30D9D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bénéfices et les limites du SRP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7464D-237D-406D-9C73-F503F48755AE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E6058-28DB-4EFC-A038-00EF6A1ECEB9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E2224-0E03-458D-86B0-8F6C4E0D1004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Les bénéfices recherchés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9BEA9-4D14-4BAF-9411-C0A3AEABFB5F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6619875" cy="2428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Un rôle de classe plus facile à comprendre.</a:t>
            </a:r>
          </a:p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Des modifications plus faciles à localiser.</a:t>
            </a:r>
          </a:p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Des tests plus ciblés.</a:t>
            </a:r>
          </a:p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Moins de dépendances entre des préoccupations qui évoluent indépendamment.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F777D-00C7-46EB-A6E3-E7789BC436D4}"/>
              </a:ext>
            </a:extLst>
          </p:cNvPr>
          <p:cNvSpPr>
            <a:spLocks noGrp="1"/>
          </p:cNvSpPr>
          <p:nvPr/>
        </p:nvSpPr>
        <p:spPr>
          <a:xfrm>
            <a:off x="8048625" y="18097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Deux notions pour raisonner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9AFFF-5D0E-4124-9167-5C17B0F95DC0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6334125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Cohésion : les éléments d’un composant contribuent à une même responsabilité.</a:t>
            </a:r>
          </a:p>
          <a:p>
            <a:endParaRPr sz="2175" b="0">
              <a:solidFill>
                <a:srgbClr val="182F44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Couplage : les composants dépendent les uns des autres. On cherche à éviter les dépendances inutiles.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9B587-E6AB-489C-B36A-171304003D78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3620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Un découpage à adapter au besoin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CC152-11C3-4CBB-80DC-8E1E8EC314E9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3811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Une évolution peut légitimement concerner plusieurs classes. Inversement, multiplier les petites classes sans rôle clairement identifiable ajoute de la complexité et rend le parcours du code plus difficile.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CFB51-EE49-4822-A66F-CE923939A636}"/>
              </a:ext>
            </a:extLst>
          </p:cNvPr>
          <p:cNvSpPr>
            <a:spLocks noGrp="1"/>
          </p:cNvSpPr>
          <p:nvPr/>
        </p:nvSpPr>
        <p:spPr>
          <a:xfrm>
            <a:off x="619125" y="73723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 SRP vise des responsabilités cohérentes et des dépendances maîtrisées.</a:t>
            </a:r>
          </a:p>
        </p:txBody>
      </p:sp>
    </p:spTree>
    <p:extLst>
      <p:ext uri="{BB962C8B-B14F-4D97-AF65-F5344CB8AC3E}">
        <p14:creationId xmlns:p14="http://schemas.microsoft.com/office/powerpoint/2010/main" val="65753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B1C8B29-C075-4FB6-A038-C67CF580527F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OPEN/CLOSED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05B214-2C15-4283-AF7D-F56BA53EA2E2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OCP : ouvert à l’extension, fermé à la modification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B5C8D1-17CC-4C46-820C-A7EEA23DF3AA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5BAD8-2CD8-4EE8-AC16-81614F9BDB6A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31C55-D920-4635-8F20-9536A24980ED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3906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9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« Les entités logicielles doivent être ouvertes</a:t>
            </a:r>
          </a:p>
          <a:p>
            <a:pPr algn="l">
              <a:defRPr sz="292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à l’extension, mais fermées à la modification. 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7E814-4F5D-47E1-9799-A2C6203B8FC2}"/>
              </a:ext>
            </a:extLst>
          </p:cNvPr>
          <p:cNvSpPr>
            <a:spLocks noGrp="1"/>
          </p:cNvSpPr>
          <p:nvPr/>
        </p:nvSpPr>
        <p:spPr>
          <a:xfrm>
            <a:off x="619125" y="3067050"/>
            <a:ext cx="1352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Formulation française du principe de Bertrand Meyer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80277-7957-4672-B550-F6F1D7822B7E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Ouvert à l’extension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D0250-D203-4023-AEAB-8068C4088D96}"/>
              </a:ext>
            </a:extLst>
          </p:cNvPr>
          <p:cNvSpPr>
            <a:spLocks noGrp="1"/>
          </p:cNvSpPr>
          <p:nvPr/>
        </p:nvSpPr>
        <p:spPr>
          <a:xfrm>
            <a:off x="619125" y="4410075"/>
            <a:ext cx="6477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 composant peut accueillir une nouvelle variante de comportement grâce à un point d’extension identifié.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4FD4C-2795-455E-8EB9-76E4AD83FE78}"/>
              </a:ext>
            </a:extLst>
          </p:cNvPr>
          <p:cNvSpPr>
            <a:spLocks noGrp="1"/>
          </p:cNvSpPr>
          <p:nvPr/>
        </p:nvSpPr>
        <p:spPr>
          <a:xfrm>
            <a:off x="8048625" y="385762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Fermé à la modification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0CB2D6-BACC-4F90-94F9-DCBEE730C277}"/>
              </a:ext>
            </a:extLst>
          </p:cNvPr>
          <p:cNvSpPr>
            <a:spLocks noGrp="1"/>
          </p:cNvSpPr>
          <p:nvPr/>
        </p:nvSpPr>
        <p:spPr>
          <a:xfrm>
            <a:off x="8048625" y="4410075"/>
            <a:ext cx="6477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Cette extension peut préserver la logique stable du composant qui l’utilise, pour le type de variation envisagé.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43C14-06FC-4F98-AF8F-A193C88EC613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371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Un point d’extension permet de fournir un comportement différent : par exemple, plusieurs implémentations d’une même interface.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CC2BC4-958D-4829-88E0-A51BCFC26A77}"/>
              </a:ext>
            </a:extLst>
          </p:cNvPr>
          <p:cNvSpPr>
            <a:spLocks noGrp="1"/>
          </p:cNvSpPr>
          <p:nvPr/>
        </p:nvSpPr>
        <p:spPr>
          <a:xfrm>
            <a:off x="619125" y="73342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La stabilité concerne certaines évolutions prévues par la conception, pas tous les changements possibles.</a:t>
            </a:r>
          </a:p>
        </p:txBody>
      </p:sp>
    </p:spTree>
    <p:extLst>
      <p:ext uri="{BB962C8B-B14F-4D97-AF65-F5344CB8AC3E}">
        <p14:creationId xmlns:p14="http://schemas.microsoft.com/office/powerpoint/2010/main" val="56793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7130DB-80D2-4B44-A1BD-8AF2D3FA70C4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AVANT • UNE DÉPENDANCE À UNE TECHNOLOGIE PRÉCISE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28A15-8CDE-4677-950D-4725EE7262A4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OCP : le métier dépend directement de MySQL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1CFC9-96DB-481E-8785-B5C73A7A1392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D5F804-446D-4059-9088-530371C98001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B32439-E5C1-42D5-B169-FEBDA5E02254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8096250" cy="2047875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2B009-9176-4964-95C5-C7A1F2507903}"/>
              </a:ext>
            </a:extLst>
          </p:cNvPr>
          <p:cNvSpPr>
            <a:spLocks noGrp="1"/>
          </p:cNvSpPr>
          <p:nvPr/>
        </p:nvSpPr>
        <p:spPr>
          <a:xfrm>
            <a:off x="790575" y="2228850"/>
            <a:ext cx="7753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ServiceCommande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63E3A-2C6B-45F0-AB0D-05F5BB1D1F7B}"/>
              </a:ext>
            </a:extLst>
          </p:cNvPr>
          <p:cNvSpPr>
            <a:spLocks noGrp="1"/>
          </p:cNvSpPr>
          <p:nvPr/>
        </p:nvSpPr>
        <p:spPr>
          <a:xfrm>
            <a:off x="790575" y="2638425"/>
            <a:ext cx="775335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 métier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Création de la connexion MySQL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Requêtes SQL et enregistrement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8B8DF-5F8C-4B27-A71B-3D638E3F992F}"/>
              </a:ext>
            </a:extLst>
          </p:cNvPr>
          <p:cNvSpPr>
            <a:spLocks noGrp="1"/>
          </p:cNvSpPr>
          <p:nvPr/>
        </p:nvSpPr>
        <p:spPr>
          <a:xfrm>
            <a:off x="10858500" y="2428875"/>
            <a:ext cx="3762375" cy="1333500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4A77E4-83CA-4F06-91C9-9D2270D20A8F}"/>
              </a:ext>
            </a:extLst>
          </p:cNvPr>
          <p:cNvSpPr>
            <a:spLocks noGrp="1"/>
          </p:cNvSpPr>
          <p:nvPr/>
        </p:nvSpPr>
        <p:spPr>
          <a:xfrm>
            <a:off x="11029950" y="2562225"/>
            <a:ext cx="3419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Base MySQL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B010F9-98F2-44D1-9338-2D8C98199C00}"/>
              </a:ext>
            </a:extLst>
          </p:cNvPr>
          <p:cNvSpPr>
            <a:spLocks noGrp="1"/>
          </p:cNvSpPr>
          <p:nvPr/>
        </p:nvSpPr>
        <p:spPr>
          <a:xfrm>
            <a:off x="11029950" y="2971800"/>
            <a:ext cx="3419475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Stockage des commandes</a:t>
            </a:r>
          </a:p>
        </p:txBody>
      </p:sp>
      <p:cxnSp>
        <p:nvCxnSpPr>
          <p:cNvPr id="26" name="Elbow Connector 25"/>
          <p:cNvCxnSpPr>
            <a:stCxn id="5" idx="3"/>
            <a:endCxn id="8" idx="1"/>
          </p:cNvCxnSpPr>
          <p:nvPr/>
        </p:nvCxnSpPr>
        <p:spPr>
          <a:xfrm flipV="1">
            <a:off x="8715375" y="3095625"/>
            <a:ext cx="2143125" cy="23813"/>
          </a:xfrm>
          <a:prstGeom prst="bentConnector3">
            <a:avLst>
              <a:gd name="adj1" fmla="val 50000"/>
            </a:avLst>
          </a:prstGeom>
          <a:ln w="23813">
            <a:solidFill>
              <a:srgbClr val="176B91"/>
            </a:solidFill>
            <a:prstDash val="solid"/>
            <a:tailEnd type="arrow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9EBB0-AFE1-483C-9706-85BDCE83ACC9}"/>
              </a:ext>
            </a:extLst>
          </p:cNvPr>
          <p:cNvSpPr>
            <a:spLocks noGrp="1"/>
          </p:cNvSpPr>
          <p:nvPr/>
        </p:nvSpPr>
        <p:spPr>
          <a:xfrm>
            <a:off x="9048750" y="257175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accède 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7AC84-D8D1-4E8B-8BC4-54458CF273BE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3811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Si le stockage passe à PostgreSQL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0D7B3-6014-4A6B-A974-8DF9C2D838E6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37160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 service contient des détails propres à MySQL. Le remplacement du mécanisme de stockage peut donc imposer de modifier ce service, même si les règles métier restent identiques.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D4C122-73B8-4692-834A-163A2446E58F}"/>
              </a:ext>
            </a:extLst>
          </p:cNvPr>
          <p:cNvSpPr>
            <a:spLocks noGrp="1"/>
          </p:cNvSpPr>
          <p:nvPr/>
        </p:nvSpPr>
        <p:spPr>
          <a:xfrm>
            <a:off x="619125" y="6629400"/>
            <a:ext cx="13716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Changer seulement l’adresse du serveur ou le mot de passe relève normalement de la configuration. Ici, on remplace l’implémentation d’accès aux données.</a:t>
            </a:r>
          </a:p>
        </p:txBody>
      </p:sp>
    </p:spTree>
    <p:extLst>
      <p:ext uri="{BB962C8B-B14F-4D97-AF65-F5344CB8AC3E}">
        <p14:creationId xmlns:p14="http://schemas.microsoft.com/office/powerpoint/2010/main" val="14379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78DF7D-E87F-4BF0-86D2-5B09B31ED891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APRÈS • RELATIONS DE DÉPENDANCE DANS LE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36BBC-05C8-4069-90D6-A185FAEF01D0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OCP : un contrat commun pour le stockage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889CBA-9F6B-45C8-BA00-C7A9AC3CBE83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2BA32-CD8C-4678-824B-F26CDED6B003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125C7C-D376-476C-AA25-AD1FACD6874D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857750" cy="1238250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A46DD-D5F0-4BB5-B694-B845932B66C2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4514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ServiceCommande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BA6D1-E944-4F9D-833B-96171BFF4331}"/>
              </a:ext>
            </a:extLst>
          </p:cNvPr>
          <p:cNvSpPr>
            <a:spLocks noGrp="1"/>
          </p:cNvSpPr>
          <p:nvPr/>
        </p:nvSpPr>
        <p:spPr>
          <a:xfrm>
            <a:off x="790575" y="2590800"/>
            <a:ext cx="45148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Logique métier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690F2-0847-4B69-8384-D22D900AF889}"/>
              </a:ext>
            </a:extLst>
          </p:cNvPr>
          <p:cNvSpPr>
            <a:spLocks noGrp="1"/>
          </p:cNvSpPr>
          <p:nvPr/>
        </p:nvSpPr>
        <p:spPr>
          <a:xfrm>
            <a:off x="9048750" y="1857375"/>
            <a:ext cx="5572125" cy="15716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C754F-AC6A-4A0A-AC82-3E21DF4599AD}"/>
              </a:ext>
            </a:extLst>
          </p:cNvPr>
          <p:cNvSpPr>
            <a:spLocks noGrp="1"/>
          </p:cNvSpPr>
          <p:nvPr/>
        </p:nvSpPr>
        <p:spPr>
          <a:xfrm>
            <a:off x="9220200" y="1990725"/>
            <a:ext cx="5229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Interface StockageCommandes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BB461-4B24-4CFA-A477-403EF3E8A047}"/>
              </a:ext>
            </a:extLst>
          </p:cNvPr>
          <p:cNvSpPr>
            <a:spLocks noGrp="1"/>
          </p:cNvSpPr>
          <p:nvPr/>
        </p:nvSpPr>
        <p:spPr>
          <a:xfrm>
            <a:off x="9220200" y="2400300"/>
            <a:ext cx="52292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enregistrer(commande)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chercherParId(id)</a:t>
            </a:r>
          </a:p>
        </p:txBody>
      </p:sp>
      <p:cxnSp>
        <p:nvCxnSpPr>
          <p:cNvPr id="35" name="Elbow Connector 34"/>
          <p:cNvCxnSpPr>
            <a:stCxn id="5" idx="3"/>
            <a:endCxn id="8" idx="1"/>
          </p:cNvCxnSpPr>
          <p:nvPr/>
        </p:nvCxnSpPr>
        <p:spPr>
          <a:xfrm flipV="1">
            <a:off x="5476875" y="2643188"/>
            <a:ext cx="3571875" cy="23813"/>
          </a:xfrm>
          <a:prstGeom prst="bentConnector3">
            <a:avLst>
              <a:gd name="adj1" fmla="val 50000"/>
            </a:avLst>
          </a:prstGeom>
          <a:ln w="23813">
            <a:solidFill>
              <a:srgbClr val="176B91"/>
            </a:solidFill>
            <a:prstDash val="solid"/>
            <a:tailEnd type="arrow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6661250-6437-4C9B-AAEE-2338F40AABA9}"/>
              </a:ext>
            </a:extLst>
          </p:cNvPr>
          <p:cNvSpPr>
            <a:spLocks noGrp="1"/>
          </p:cNvSpPr>
          <p:nvPr/>
        </p:nvSpPr>
        <p:spPr>
          <a:xfrm>
            <a:off x="5857875" y="214312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utilise le contrat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D2557-9941-4B75-AD2F-3A4B8A4736AE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4143375" cy="1238250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0D9DE4-5358-424D-A613-4AC6E7A100D8}"/>
              </a:ext>
            </a:extLst>
          </p:cNvPr>
          <p:cNvSpPr>
            <a:spLocks noGrp="1"/>
          </p:cNvSpPr>
          <p:nvPr/>
        </p:nvSpPr>
        <p:spPr>
          <a:xfrm>
            <a:off x="6076950" y="5086350"/>
            <a:ext cx="38004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StockageMySQL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89A13C-17E5-4896-972A-AB2060D26071}"/>
              </a:ext>
            </a:extLst>
          </p:cNvPr>
          <p:cNvSpPr>
            <a:spLocks noGrp="1"/>
          </p:cNvSpPr>
          <p:nvPr/>
        </p:nvSpPr>
        <p:spPr>
          <a:xfrm>
            <a:off x="6076950" y="5495925"/>
            <a:ext cx="38004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Connexion et requêtes MySQL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AFF296-5CCF-4409-A268-81CCA7FCB872}"/>
              </a:ext>
            </a:extLst>
          </p:cNvPr>
          <p:cNvSpPr>
            <a:spLocks noGrp="1"/>
          </p:cNvSpPr>
          <p:nvPr/>
        </p:nvSpPr>
        <p:spPr>
          <a:xfrm>
            <a:off x="10668000" y="4953000"/>
            <a:ext cx="3952875" cy="1238250"/>
          </a:xfrm>
          <a:prstGeom prst="rect">
            <a:avLst/>
          </a:prstGeom>
          <a:solidFill>
            <a:srgbClr val="E5F3EA"/>
          </a:solidFill>
          <a:ln w="14288">
            <a:solidFill>
              <a:srgbClr val="2170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BB6918-F0EF-47F9-80E9-5511F4E5520F}"/>
              </a:ext>
            </a:extLst>
          </p:cNvPr>
          <p:cNvSpPr>
            <a:spLocks noGrp="1"/>
          </p:cNvSpPr>
          <p:nvPr/>
        </p:nvSpPr>
        <p:spPr>
          <a:xfrm>
            <a:off x="10839450" y="5086350"/>
            <a:ext cx="36099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2170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046"/>
                </a:solidFill>
                <a:latin typeface="Arial"/>
                <a:ea typeface="Arial"/>
                <a:cs typeface="Arial"/>
              </a:rPr>
              <a:t>StockagePostgreSQL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16A60D-4060-4CB9-96A7-20C1EDC149D5}"/>
              </a:ext>
            </a:extLst>
          </p:cNvPr>
          <p:cNvSpPr>
            <a:spLocks noGrp="1"/>
          </p:cNvSpPr>
          <p:nvPr/>
        </p:nvSpPr>
        <p:spPr>
          <a:xfrm>
            <a:off x="10839450" y="5495925"/>
            <a:ext cx="36099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Connexion et requêtes PostgreSQL</a:t>
            </a:r>
          </a:p>
        </p:txBody>
      </p:sp>
      <p:cxnSp>
        <p:nvCxnSpPr>
          <p:cNvPr id="43" name="Elbow Connector 42"/>
          <p:cNvCxnSpPr>
            <a:stCxn id="13" idx="0"/>
            <a:endCxn id="8" idx="2"/>
          </p:cNvCxnSpPr>
          <p:nvPr/>
        </p:nvCxnSpPr>
        <p:spPr>
          <a:xfrm flipV="1">
            <a:off x="7977188" y="3429000"/>
            <a:ext cx="3857625" cy="1524000"/>
          </a:xfrm>
          <a:prstGeom prst="bentConnector4">
            <a:avLst>
              <a:gd name="adj1" fmla="val 0"/>
              <a:gd name="adj2" fmla="val 15000"/>
            </a:avLst>
          </a:prstGeom>
          <a:ln w="23813">
            <a:solidFill>
              <a:srgbClr val="176B91"/>
            </a:solidFill>
            <a:prstDash val="dash"/>
            <a:tailEnd type="arrow" w="med" len="med"/>
          </a:ln>
        </p:spPr>
      </p:cxnSp>
      <p:cxnSp>
        <p:nvCxnSpPr>
          <p:cNvPr id="44" name="Elbow Connector 43"/>
          <p:cNvCxnSpPr>
            <a:stCxn id="16" idx="0"/>
            <a:endCxn id="8" idx="2"/>
          </p:cNvCxnSpPr>
          <p:nvPr/>
        </p:nvCxnSpPr>
        <p:spPr>
          <a:xfrm flipH="1" flipV="1">
            <a:off x="11834813" y="3429000"/>
            <a:ext cx="809625" cy="1524000"/>
          </a:xfrm>
          <a:prstGeom prst="bentConnector4">
            <a:avLst>
              <a:gd name="adj1" fmla="val 0"/>
              <a:gd name="adj2" fmla="val 15000"/>
            </a:avLst>
          </a:prstGeom>
          <a:ln w="23813">
            <a:solidFill>
              <a:srgbClr val="176B91"/>
            </a:solidFill>
            <a:prstDash val="dash"/>
            <a:tailEnd type="arrow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BF1AB2E-DA7C-4A6A-9CFF-40433FB328F6}"/>
              </a:ext>
            </a:extLst>
          </p:cNvPr>
          <p:cNvSpPr>
            <a:spLocks noGrp="1"/>
          </p:cNvSpPr>
          <p:nvPr/>
        </p:nvSpPr>
        <p:spPr>
          <a:xfrm>
            <a:off x="6762750" y="4124325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implémente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C06712-636D-44E5-B9A5-9B6363E795CC}"/>
              </a:ext>
            </a:extLst>
          </p:cNvPr>
          <p:cNvSpPr>
            <a:spLocks noGrp="1"/>
          </p:cNvSpPr>
          <p:nvPr/>
        </p:nvSpPr>
        <p:spPr>
          <a:xfrm>
            <a:off x="12668250" y="41243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implémente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2B3BE5-951C-4330-AEB1-C7EB6F185654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461962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 service connaît les opérations du contrat. L’assemblage de l’application lui fournit l’objet de stockage à utiliser.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2780C1-8C77-4C3F-89AB-F48191A83FE7}"/>
              </a:ext>
            </a:extLst>
          </p:cNvPr>
          <p:cNvSpPr>
            <a:spLocks noGrp="1"/>
          </p:cNvSpPr>
          <p:nvPr/>
        </p:nvSpPr>
        <p:spPr>
          <a:xfrm>
            <a:off x="619125" y="6810375"/>
            <a:ext cx="13811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flèches montrent des dépendances du code, pas l’ordre d’exécution. Les détails de connexion restent dans les implémentations.</a:t>
            </a:r>
          </a:p>
        </p:txBody>
      </p:sp>
    </p:spTree>
    <p:extLst>
      <p:ext uri="{BB962C8B-B14F-4D97-AF65-F5344CB8AC3E}">
        <p14:creationId xmlns:p14="http://schemas.microsoft.com/office/powerpoint/2010/main" val="1806465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B86CB8-887C-4E50-B889-6EAEADEC8E00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OCP • AJOUT D’UNE IMPLÉMENTATION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06B769-49FF-4F9C-81BC-04D0C9C50C1B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Passer à PostgreSQL : ce qui change réellement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3031AC-9DA3-47B3-B3DC-EB038F2FF177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75E79-78AE-454A-974D-83A58AE99CBB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619125" y="1905000"/>
          <a:ext cx="14001750" cy="4048128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Élément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Conséquence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ServiceCommande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16575"/>
                          </a:solidFill>
                          <a:latin typeface="Arial"/>
                          <a:ea typeface="Arial"/>
                          <a:cs typeface="Arial"/>
                        </a:rPr>
                        <a:t>INCHANGÉ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La logique métier utilise toujours le même contrat.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StockageCommandes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16575"/>
                          </a:solidFill>
                          <a:latin typeface="Arial"/>
                          <a:ea typeface="Arial"/>
                          <a:cs typeface="Arial"/>
                        </a:rPr>
                        <a:t>INCHANGÉ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Les opérations et leur sens restent compatibles.</a:t>
                      </a:r>
                    </a:p>
                  </a:txBody>
                  <a:tcPr marL="152400" marR="152400" marT="114300" marB="114300" anchor="ctr"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StockagePostgreSQL</a:t>
                      </a:r>
                    </a:p>
                  </a:txBody>
                  <a:tcPr marL="152400" marR="152400" marT="114300" marB="114300" anchor="ctr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17046"/>
                          </a:solidFill>
                          <a:latin typeface="Arial"/>
                          <a:ea typeface="Arial"/>
                          <a:cs typeface="Arial"/>
                        </a:rPr>
                        <a:t>AJOUTÉ</a:t>
                      </a:r>
                    </a:p>
                  </a:txBody>
                  <a:tcPr marL="152400" marR="152400" marT="114300" marB="114300" anchor="ctr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Le nouveau code gère la connexion et les requêtes.</a:t>
                      </a:r>
                    </a:p>
                  </a:txBody>
                  <a:tcPr marL="152400" marR="152400" marT="114300" marB="114300" anchor="ctr">
                    <a:solidFill>
                      <a:srgbClr val="E5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Assemblage / configuration</a:t>
                      </a:r>
                    </a:p>
                  </a:txBody>
                  <a:tcPr marL="152400" marR="152400" marT="114300" marB="114300" anchor="ctr">
                    <a:solidFill>
                      <a:srgbClr val="FFF0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A84C0A"/>
                          </a:solidFill>
                          <a:latin typeface="Arial"/>
                          <a:ea typeface="Arial"/>
                          <a:cs typeface="Arial"/>
                        </a:rPr>
                        <a:t>MODIFIÉ</a:t>
                      </a:r>
                    </a:p>
                  </a:txBody>
                  <a:tcPr marL="152400" marR="152400" marT="114300" marB="114300" anchor="ctr">
                    <a:solidFill>
                      <a:srgbClr val="FFF0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L’application fournit la nouvelle implémentation.</a:t>
                      </a:r>
                    </a:p>
                  </a:txBody>
                  <a:tcPr marL="152400" marR="152400" marT="114300" marB="114300" anchor="ctr">
                    <a:solidFill>
                      <a:srgbClr val="FFF0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Données et tests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À PRÉVOIR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Migration éventuelle et tests d’intégration.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1763467-60B5-4738-808A-6C412AB390EF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ORANGE : modifié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0B795-E394-4588-A4AB-94FC0CF3F163}"/>
              </a:ext>
            </a:extLst>
          </p:cNvPr>
          <p:cNvSpPr>
            <a:spLocks noGrp="1"/>
          </p:cNvSpPr>
          <p:nvPr/>
        </p:nvSpPr>
        <p:spPr>
          <a:xfrm>
            <a:off x="5095875" y="6315075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2170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046"/>
                </a:solidFill>
                <a:latin typeface="Arial"/>
                <a:ea typeface="Arial"/>
                <a:cs typeface="Arial"/>
              </a:rPr>
              <a:t>VERT : ajouté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E30DB3-3C85-4024-8A73-34E18EB2BCE0}"/>
              </a:ext>
            </a:extLst>
          </p:cNvPr>
          <p:cNvSpPr>
            <a:spLocks noGrp="1"/>
          </p:cNvSpPr>
          <p:nvPr/>
        </p:nvSpPr>
        <p:spPr>
          <a:xfrm>
            <a:off x="10096500" y="6315075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6575"/>
                </a:solidFill>
                <a:latin typeface="Arial"/>
                <a:ea typeface="Arial"/>
                <a:cs typeface="Arial"/>
              </a:rPr>
              <a:t>GRIS : inchangé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5EE98-E593-4953-A1E2-06F543046FDF}"/>
              </a:ext>
            </a:extLst>
          </p:cNvPr>
          <p:cNvSpPr>
            <a:spLocks noGrp="1"/>
          </p:cNvSpPr>
          <p:nvPr/>
        </p:nvSpPr>
        <p:spPr>
          <a:xfrm>
            <a:off x="619125" y="6886575"/>
            <a:ext cx="13811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 remplacement fonctionne si les deux implémentations respectent le même contrat. L’accès aux données, les transactions et les erreurs doivent conserver le comportement attendu par le service.</a:t>
            </a:r>
          </a:p>
        </p:txBody>
      </p:sp>
    </p:spTree>
    <p:extLst>
      <p:ext uri="{BB962C8B-B14F-4D97-AF65-F5344CB8AC3E}">
        <p14:creationId xmlns:p14="http://schemas.microsoft.com/office/powerpoint/2010/main" val="58491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3A7418-7FF0-421D-93D2-71CDD119AE93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ÉVOLUTION DES RÈGLES MÉTIER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4B95D2-8922-4BEF-B182-4A730FDD8F91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OCP : ajouter une nouvelle variante de remise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4C34DA-6E80-45DE-8A11-1EC9E97B4F0B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B5614-B27B-47A6-9550-B136F39B6700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96786-FAB6-4D66-AED5-D644A6B2F5D4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Des cas dans le calculateur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33160-259E-41BD-9814-DD5696A06936}"/>
              </a:ext>
            </a:extLst>
          </p:cNvPr>
          <p:cNvSpPr>
            <a:spLocks noGrp="1"/>
          </p:cNvSpPr>
          <p:nvPr/>
        </p:nvSpPr>
        <p:spPr>
          <a:xfrm>
            <a:off x="7858125" y="1762125"/>
            <a:ext cx="676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Un point d’extension identifié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DE270-BCB8-44FC-B4BE-B46927512E2C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6191250" cy="1809750"/>
          </a:xfrm>
          <a:prstGeom prst="rect">
            <a:avLst/>
          </a:prstGeom>
          <a:solidFill>
            <a:srgbClr val="FFF0DE"/>
          </a:solidFill>
          <a:ln w="14288">
            <a:solidFill>
              <a:srgbClr val="A84C0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79396-00A0-4966-9151-F3AFDAEE3AB8}"/>
              </a:ext>
            </a:extLst>
          </p:cNvPr>
          <p:cNvSpPr>
            <a:spLocks noGrp="1"/>
          </p:cNvSpPr>
          <p:nvPr/>
        </p:nvSpPr>
        <p:spPr>
          <a:xfrm>
            <a:off x="790575" y="2562225"/>
            <a:ext cx="5848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A84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4C0A"/>
                </a:solidFill>
                <a:latin typeface="Arial"/>
                <a:ea typeface="Arial"/>
                <a:cs typeface="Arial"/>
              </a:rPr>
              <a:t>Calculateur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F4E612-0DE4-44D6-89B3-91CAEC34F568}"/>
              </a:ext>
            </a:extLst>
          </p:cNvPr>
          <p:cNvSpPr>
            <a:spLocks noGrp="1"/>
          </p:cNvSpPr>
          <p:nvPr/>
        </p:nvSpPr>
        <p:spPr>
          <a:xfrm>
            <a:off x="790575" y="2971800"/>
            <a:ext cx="5848350" cy="1181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si fidélité : calcul A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si promotion : calcul B</a:t>
            </a:r>
          </a:p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si partenaire : nouveau calcul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A6D92-8A04-4EDB-AC60-5F2543ACF763}"/>
              </a:ext>
            </a:extLst>
          </p:cNvPr>
          <p:cNvSpPr>
            <a:spLocks noGrp="1"/>
          </p:cNvSpPr>
          <p:nvPr/>
        </p:nvSpPr>
        <p:spPr>
          <a:xfrm>
            <a:off x="7858125" y="2381250"/>
            <a:ext cx="6762750" cy="1000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10E0A4-3309-461D-8FF1-81D23F01C1EA}"/>
              </a:ext>
            </a:extLst>
          </p:cNvPr>
          <p:cNvSpPr>
            <a:spLocks noGrp="1"/>
          </p:cNvSpPr>
          <p:nvPr/>
        </p:nvSpPr>
        <p:spPr>
          <a:xfrm>
            <a:off x="8029575" y="2514600"/>
            <a:ext cx="641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Calculateur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DA807-BB37-448F-BDEF-61E3335A39B1}"/>
              </a:ext>
            </a:extLst>
          </p:cNvPr>
          <p:cNvSpPr>
            <a:spLocks noGrp="1"/>
          </p:cNvSpPr>
          <p:nvPr/>
        </p:nvSpPr>
        <p:spPr>
          <a:xfrm>
            <a:off x="8029575" y="2924175"/>
            <a:ext cx="64198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Utilise une politique de remise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0BF49D-2CB3-44F1-9F4A-45EB926D98C8}"/>
              </a:ext>
            </a:extLst>
          </p:cNvPr>
          <p:cNvSpPr>
            <a:spLocks noGrp="1"/>
          </p:cNvSpPr>
          <p:nvPr/>
        </p:nvSpPr>
        <p:spPr>
          <a:xfrm>
            <a:off x="7858125" y="4000500"/>
            <a:ext cx="6762750" cy="1000125"/>
          </a:xfrm>
          <a:prstGeom prst="rect">
            <a:avLst/>
          </a:prstGeom>
          <a:solidFill>
            <a:srgbClr val="E8EDF0"/>
          </a:solidFill>
          <a:ln w="14288">
            <a:solidFill>
              <a:srgbClr val="B9C7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0FE96-2F9B-44F5-84A9-5776C9AF39C8}"/>
              </a:ext>
            </a:extLst>
          </p:cNvPr>
          <p:cNvSpPr>
            <a:spLocks noGrp="1"/>
          </p:cNvSpPr>
          <p:nvPr/>
        </p:nvSpPr>
        <p:spPr>
          <a:xfrm>
            <a:off x="8029575" y="4133850"/>
            <a:ext cx="641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PolitiqueRemise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4F71E6-E9C0-48FE-B78D-D398530A4AA0}"/>
              </a:ext>
            </a:extLst>
          </p:cNvPr>
          <p:cNvSpPr>
            <a:spLocks noGrp="1"/>
          </p:cNvSpPr>
          <p:nvPr/>
        </p:nvSpPr>
        <p:spPr>
          <a:xfrm>
            <a:off x="8029575" y="4543425"/>
            <a:ext cx="64198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calculer(montant)</a:t>
            </a:r>
          </a:p>
        </p:txBody>
      </p:sp>
      <p:cxnSp>
        <p:nvCxnSpPr>
          <p:cNvPr id="41" name="Straight Arrow Connector 40"/>
          <p:cNvCxnSpPr>
            <a:stCxn id="10" idx="2"/>
            <a:endCxn id="13" idx="0"/>
          </p:cNvCxnSpPr>
          <p:nvPr/>
        </p:nvCxnSpPr>
        <p:spPr>
          <a:xfrm>
            <a:off x="11239500" y="3381375"/>
            <a:ext cx="0" cy="619125"/>
          </a:xfrm>
          <a:prstGeom prst="straightConnector1">
            <a:avLst/>
          </a:prstGeom>
          <a:ln w="23813">
            <a:solidFill>
              <a:srgbClr val="176B91"/>
            </a:solidFill>
            <a:prstDash val="solid"/>
            <a:tailEnd type="arrow" w="med" len="me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C0D36F3-CFD2-4613-A259-B55AB6694684}"/>
              </a:ext>
            </a:extLst>
          </p:cNvPr>
          <p:cNvSpPr>
            <a:spLocks noGrp="1"/>
          </p:cNvSpPr>
          <p:nvPr/>
        </p:nvSpPr>
        <p:spPr>
          <a:xfrm>
            <a:off x="11620500" y="35623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utilise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7B3A9E-9D01-424F-9E73-8A3577665B00}"/>
              </a:ext>
            </a:extLst>
          </p:cNvPr>
          <p:cNvSpPr>
            <a:spLocks noGrp="1"/>
          </p:cNvSpPr>
          <p:nvPr/>
        </p:nvSpPr>
        <p:spPr>
          <a:xfrm>
            <a:off x="10620375" y="5619750"/>
            <a:ext cx="4000500" cy="1095375"/>
          </a:xfrm>
          <a:prstGeom prst="rect">
            <a:avLst/>
          </a:prstGeom>
          <a:solidFill>
            <a:srgbClr val="E5F3EA"/>
          </a:solidFill>
          <a:ln w="14288">
            <a:solidFill>
              <a:srgbClr val="2170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547BF-C6B8-47FC-ABC9-1CA656A6D693}"/>
              </a:ext>
            </a:extLst>
          </p:cNvPr>
          <p:cNvSpPr>
            <a:spLocks noGrp="1"/>
          </p:cNvSpPr>
          <p:nvPr/>
        </p:nvSpPr>
        <p:spPr>
          <a:xfrm>
            <a:off x="10791825" y="5753100"/>
            <a:ext cx="3657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2170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046"/>
                </a:solidFill>
                <a:latin typeface="Arial"/>
                <a:ea typeface="Arial"/>
                <a:cs typeface="Arial"/>
              </a:rPr>
              <a:t>RemisePartenaire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8AC3D6-0FE7-4582-907F-84B89EBA99E3}"/>
              </a:ext>
            </a:extLst>
          </p:cNvPr>
          <p:cNvSpPr>
            <a:spLocks noGrp="1"/>
          </p:cNvSpPr>
          <p:nvPr/>
        </p:nvSpPr>
        <p:spPr>
          <a:xfrm>
            <a:off x="10791825" y="6162675"/>
            <a:ext cx="36576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Nouvelle implémentation</a:t>
            </a:r>
          </a:p>
        </p:txBody>
      </p:sp>
      <p:cxnSp>
        <p:nvCxnSpPr>
          <p:cNvPr id="46" name="Elbow Connector 45"/>
          <p:cNvCxnSpPr>
            <a:stCxn id="18" idx="0"/>
            <a:endCxn id="13" idx="2"/>
          </p:cNvCxnSpPr>
          <p:nvPr/>
        </p:nvCxnSpPr>
        <p:spPr>
          <a:xfrm flipH="1" flipV="1">
            <a:off x="11239500" y="5000625"/>
            <a:ext cx="1381125" cy="619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176B91"/>
            </a:solidFill>
            <a:prstDash val="dash"/>
            <a:tailEnd type="arrow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D6901FA-94C5-4039-9768-E3CC1CD8D31E}"/>
              </a:ext>
            </a:extLst>
          </p:cNvPr>
          <p:cNvSpPr>
            <a:spLocks noGrp="1"/>
          </p:cNvSpPr>
          <p:nvPr/>
        </p:nvSpPr>
        <p:spPr>
          <a:xfrm>
            <a:off x="12763500" y="51911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B91"/>
                </a:solidFill>
                <a:latin typeface="Arial"/>
                <a:ea typeface="Arial"/>
                <a:cs typeface="Arial"/>
              </a:rPr>
              <a:t>implémente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82D897-D953-4D61-8473-1DAD698AA9FA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619125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Chaque nouvelle catégorie impose d’ajouter un cas dans ce composant. Cette organisation peut suffire tant que les variantes sont peu nombreuses et stables.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22B04B-C805-4433-9218-40C8D95331D7}"/>
              </a:ext>
            </a:extLst>
          </p:cNvPr>
          <p:cNvSpPr>
            <a:spLocks noGrp="1"/>
          </p:cNvSpPr>
          <p:nvPr/>
        </p:nvSpPr>
        <p:spPr>
          <a:xfrm>
            <a:off x="7858125" y="5524500"/>
            <a:ext cx="2476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Fidélité et promotion fournissent déjà leurs propres implémentations du contrat.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1C588A-CF3D-4C0A-9BE8-13FA31E32E1A}"/>
              </a:ext>
            </a:extLst>
          </p:cNvPr>
          <p:cNvSpPr>
            <a:spLocks noGrp="1"/>
          </p:cNvSpPr>
          <p:nvPr/>
        </p:nvSpPr>
        <p:spPr>
          <a:xfrm>
            <a:off x="619125" y="72580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Ajouter une variante peut se faire par extension. Modifier une règle existante peut demander de corriger son code.</a:t>
            </a:r>
          </a:p>
        </p:txBody>
      </p:sp>
    </p:spTree>
    <p:extLst>
      <p:ext uri="{BB962C8B-B14F-4D97-AF65-F5344CB8AC3E}">
        <p14:creationId xmlns:p14="http://schemas.microsoft.com/office/powerpoint/2010/main" val="1443770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0C6E36-C209-4EAE-8EA9-FE22420472E2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DES PRINCIPES COMPLÉMENTAIRES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CEA3F-0504-455D-9B99-78EA26A305B2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SRP et OCP : deux lectures d’un même changement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31602-0A03-4100-A417-30BB9BF29DC2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D376ED-7767-4265-9BB2-70820FD254E2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3102317465"/>
              </p:ext>
            </p:extLst>
          </p:nvPr>
        </p:nvGraphicFramePr>
        <p:xfrm>
          <a:off x="619125" y="1533525"/>
          <a:ext cx="14001750" cy="409575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Situation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Lecture SRP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Lecture OCP</a:t>
                      </a:r>
                    </a:p>
                  </a:txBody>
                  <a:tcPr marL="152400" marR="152400" marT="114300" marB="114300" anchor="ctr">
                    <a:solidFill>
                      <a:srgbClr val="182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Le stockage change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Séparer la persistance du calcul métier et de la présentation.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Remplacer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l’implémentation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de stockage derrière un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contrat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stable.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Les remises évoluent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Regrouper le calcul des remises dans une responsabilité cohérente.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Ajouter une variante derrière un contrat commun, si le besoin le justifie.</a:t>
                      </a:r>
                    </a:p>
                  </a:txBody>
                  <a:tcPr marL="152400" marR="152400" marT="114300" marB="114300"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Une classe fait tout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Plusieurs raisons indépendantes de changer se mélangent.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Les points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d’extension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deviennent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plus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difficiles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 à identifier et à </a:t>
                      </a:r>
                      <a:r>
                        <a:rPr sz="1875" b="0" dirty="0" err="1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stabiliser</a:t>
                      </a:r>
                      <a:r>
                        <a:rPr sz="1875" b="0" dirty="0">
                          <a:solidFill>
                            <a:srgbClr val="182F44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B30786A-6FAE-42A0-9975-7CE72AF04051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3811250" cy="121179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400" dirty="0"/>
              <a:t>L’OCP </a:t>
            </a:r>
            <a:r>
              <a:rPr lang="en-US" sz="2400" dirty="0" err="1"/>
              <a:t>peut</a:t>
            </a:r>
            <a:r>
              <a:rPr lang="en-US" sz="2400" dirty="0"/>
              <a:t> </a:t>
            </a:r>
            <a:r>
              <a:rPr lang="en-US" sz="2400" dirty="0" err="1"/>
              <a:t>s’appuyer</a:t>
            </a:r>
            <a:r>
              <a:rPr lang="en-US" sz="2400" dirty="0"/>
              <a:t> sur </a:t>
            </a:r>
            <a:r>
              <a:rPr lang="en-US" sz="2400" dirty="0" err="1"/>
              <a:t>une</a:t>
            </a:r>
            <a:r>
              <a:rPr lang="en-US" sz="2400" dirty="0"/>
              <a:t> interface,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dirty="0" err="1"/>
              <a:t>classe</a:t>
            </a:r>
            <a:r>
              <a:rPr lang="en-US" sz="2400" dirty="0"/>
              <a:t> </a:t>
            </a:r>
            <a:r>
              <a:rPr lang="en-US" sz="2400" dirty="0" err="1"/>
              <a:t>abstraite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dirty="0" err="1"/>
              <a:t>classe</a:t>
            </a:r>
            <a:r>
              <a:rPr lang="en-US" sz="2400" dirty="0"/>
              <a:t> mère concrète pour </a:t>
            </a:r>
            <a:r>
              <a:rPr lang="en-US" sz="2400" dirty="0" err="1"/>
              <a:t>définir</a:t>
            </a:r>
            <a:r>
              <a:rPr lang="en-US" sz="2400" dirty="0"/>
              <a:t> les </a:t>
            </a:r>
            <a:r>
              <a:rPr lang="en-US" sz="2400" dirty="0" err="1"/>
              <a:t>opérations</a:t>
            </a:r>
            <a:r>
              <a:rPr lang="en-US" sz="2400" dirty="0"/>
              <a:t> communes aux </a:t>
            </a:r>
            <a:r>
              <a:rPr lang="en-US" sz="2400" dirty="0" err="1"/>
              <a:t>différentes</a:t>
            </a:r>
            <a:r>
              <a:rPr lang="en-US" sz="2400" dirty="0"/>
              <a:t> </a:t>
            </a:r>
            <a:r>
              <a:rPr lang="en-US" sz="2400" dirty="0" err="1"/>
              <a:t>variantes</a:t>
            </a:r>
            <a:r>
              <a:rPr lang="en-US" sz="2400" dirty="0"/>
              <a:t>. Le code </a:t>
            </a:r>
            <a:r>
              <a:rPr lang="en-US" sz="2400" dirty="0" err="1"/>
              <a:t>utilisateur</a:t>
            </a:r>
            <a:r>
              <a:rPr lang="en-US" sz="2400" dirty="0"/>
              <a:t> </a:t>
            </a:r>
            <a:r>
              <a:rPr lang="en-US" sz="2400" dirty="0" err="1"/>
              <a:t>s’appuie</a:t>
            </a:r>
            <a:r>
              <a:rPr lang="en-US" sz="2400" dirty="0"/>
              <a:t> sur </a:t>
            </a:r>
            <a:r>
              <a:rPr lang="en-US" sz="2400" dirty="0" err="1"/>
              <a:t>ce</a:t>
            </a:r>
            <a:r>
              <a:rPr lang="en-US" sz="2400" dirty="0"/>
              <a:t> type </a:t>
            </a:r>
            <a:r>
              <a:rPr lang="en-US" sz="2400" dirty="0" err="1"/>
              <a:t>commun</a:t>
            </a:r>
            <a:r>
              <a:rPr lang="en-US" sz="2400" dirty="0"/>
              <a:t>, </a:t>
            </a:r>
            <a:r>
              <a:rPr lang="en-US" sz="2400" dirty="0" err="1"/>
              <a:t>ce</a:t>
            </a:r>
            <a:r>
              <a:rPr lang="en-US" sz="2400" dirty="0"/>
              <a:t> qui </a:t>
            </a:r>
            <a:r>
              <a:rPr lang="en-US" sz="2400" dirty="0" err="1"/>
              <a:t>permet</a:t>
            </a:r>
            <a:r>
              <a:rPr lang="en-US" sz="2400" dirty="0"/>
              <a:t> </a:t>
            </a:r>
            <a:r>
              <a:rPr lang="en-US" sz="2400" dirty="0" err="1"/>
              <a:t>d’ajouter</a:t>
            </a:r>
            <a:r>
              <a:rPr lang="en-US" sz="2400" dirty="0"/>
              <a:t> de nouveaux </a:t>
            </a:r>
            <a:r>
              <a:rPr lang="en-US" sz="2400" dirty="0" err="1"/>
              <a:t>comportements</a:t>
            </a:r>
            <a:r>
              <a:rPr lang="en-US" sz="2400" dirty="0"/>
              <a:t> sans modifier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logique</a:t>
            </a:r>
            <a:r>
              <a:rPr lang="en-US" sz="2400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685856-371D-4043-8834-C7877C9C8866}"/>
              </a:ext>
            </a:extLst>
          </p:cNvPr>
          <p:cNvSpPr>
            <a:spLocks noGrp="1"/>
          </p:cNvSpPr>
          <p:nvPr/>
        </p:nvSpPr>
        <p:spPr>
          <a:xfrm>
            <a:off x="619125" y="7600950"/>
            <a:ext cx="14001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Le respect du SRP ne garantit pas automatiquement celui de l’OCP.</a:t>
            </a:r>
          </a:p>
        </p:txBody>
      </p:sp>
    </p:spTree>
    <p:extLst>
      <p:ext uri="{BB962C8B-B14F-4D97-AF65-F5344CB8AC3E}">
        <p14:creationId xmlns:p14="http://schemas.microsoft.com/office/powerpoint/2010/main" val="125891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20A900-0F7F-4E86-83BD-7F14C2D789A3}"/>
              </a:ext>
            </a:extLst>
          </p:cNvPr>
          <p:cNvSpPr>
            <a:spLocks noGrp="1"/>
          </p:cNvSpPr>
          <p:nvPr/>
        </p:nvSpPr>
        <p:spPr>
          <a:xfrm>
            <a:off x="619125" y="304800"/>
            <a:ext cx="1333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SYNTHÈSE DU COURS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E75F7-3379-48F0-849F-DC8DFEADBD5D}"/>
              </a:ext>
            </a:extLst>
          </p:cNvPr>
          <p:cNvSpPr>
            <a:spLocks noGrp="1"/>
          </p:cNvSpPr>
          <p:nvPr/>
        </p:nvSpPr>
        <p:spPr>
          <a:xfrm>
            <a:off x="619125" y="7239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repères à retenir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763820-826C-444A-B588-08BDB0C67633}"/>
              </a:ext>
            </a:extLst>
          </p:cNvPr>
          <p:cNvSpPr>
            <a:spLocks noGrp="1"/>
          </p:cNvSpPr>
          <p:nvPr/>
        </p:nvSpPr>
        <p:spPr>
          <a:xfrm>
            <a:off x="619125" y="8143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R304 • Qualité du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5DB7E4-5F03-48DA-9A65-F41510B29FCB}"/>
              </a:ext>
            </a:extLst>
          </p:cNvPr>
          <p:cNvSpPr>
            <a:spLocks noGrp="1"/>
          </p:cNvSpPr>
          <p:nvPr/>
        </p:nvSpPr>
        <p:spPr>
          <a:xfrm>
            <a:off x="13335000" y="814387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CA34D-3A5A-4A6D-A0DD-27D3A027A02D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3716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SRP : organiser les responsabilités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F67AB-18F7-4EB0-B4ED-3300A364A017}"/>
              </a:ext>
            </a:extLst>
          </p:cNvPr>
          <p:cNvSpPr>
            <a:spLocks noGrp="1"/>
          </p:cNvSpPr>
          <p:nvPr/>
        </p:nvSpPr>
        <p:spPr>
          <a:xfrm>
            <a:off x="619125" y="2343150"/>
            <a:ext cx="13716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Regrouper les traitements qui changent pour les mêmes raisons. Séparer les préoccupations qui évoluent indépendamment. Une responsabilité peut comporter plusieurs méthodes.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9A28F-18EC-49CA-A7AD-1ADE23468E15}"/>
              </a:ext>
            </a:extLst>
          </p:cNvPr>
          <p:cNvSpPr>
            <a:spLocks noGrp="1"/>
          </p:cNvSpPr>
          <p:nvPr/>
        </p:nvSpPr>
        <p:spPr>
          <a:xfrm>
            <a:off x="619125" y="3762375"/>
            <a:ext cx="13716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OCP : organiser les possibilités d’extension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7B233-89AB-410A-8ADD-E6CE5A166B79}"/>
              </a:ext>
            </a:extLst>
          </p:cNvPr>
          <p:cNvSpPr>
            <a:spLocks noGrp="1"/>
          </p:cNvSpPr>
          <p:nvPr/>
        </p:nvSpPr>
        <p:spPr>
          <a:xfrm>
            <a:off x="619125" y="4286250"/>
            <a:ext cx="13716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Prévoir des points d’extension pour les variantes utiles. Préserver la logique stable des composants qui les utilisent. L’ajout d’une variante peut nécessiter de modifier la configuration.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749F2-4656-424D-8708-ADBC9AC595D6}"/>
              </a:ext>
            </a:extLst>
          </p:cNvPr>
          <p:cNvSpPr>
            <a:spLocks noGrp="1"/>
          </p:cNvSpPr>
          <p:nvPr/>
        </p:nvSpPr>
        <p:spPr>
          <a:xfrm>
            <a:off x="619125" y="5667375"/>
            <a:ext cx="13716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6B9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91"/>
                </a:solidFill>
                <a:latin typeface="Arial"/>
                <a:ea typeface="Arial"/>
                <a:cs typeface="Arial"/>
              </a:rPr>
              <a:t>Une application raisonnée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79E82-4C69-4A93-8194-46157D60018A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3716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82F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F44"/>
                </a:solidFill>
                <a:latin typeface="Arial"/>
                <a:ea typeface="Arial"/>
                <a:cs typeface="Arial"/>
              </a:rPr>
              <a:t>Les abstractions répondent à des besoins identifiés. Les corrections et les refactorisations restent nécessaires. Les tests vérifient les comportements et l’intégration des nouveaux composants.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9B5593-90BC-4646-B3AF-0BB672B418CB}"/>
              </a:ext>
            </a:extLst>
          </p:cNvPr>
          <p:cNvSpPr>
            <a:spLocks noGrp="1"/>
          </p:cNvSpPr>
          <p:nvPr/>
        </p:nvSpPr>
        <p:spPr>
          <a:xfrm>
            <a:off x="619125" y="7543800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La mise en œuvre de ces distinctions sera travaillée en TD.</a:t>
            </a:r>
          </a:p>
        </p:txBody>
      </p:sp>
    </p:spTree>
    <p:extLst>
      <p:ext uri="{BB962C8B-B14F-4D97-AF65-F5344CB8AC3E}">
        <p14:creationId xmlns:p14="http://schemas.microsoft.com/office/powerpoint/2010/main" val="15259849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2151</Words>
  <Application>Microsoft Macintosh PowerPoint</Application>
  <DocSecurity>0</DocSecurity>
  <PresentationFormat>Custom</PresentationFormat>
  <Paragraphs>300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 imbert</cp:lastModifiedBy>
  <cp:revision>1</cp:revision>
  <dcterms:created xsi:type="dcterms:W3CDTF">2026-10-05T15:36:55Z</dcterms:created>
  <dcterms:modified xsi:type="dcterms:W3CDTF">2026-10-05T18:50:28Z</dcterms:modified>
</cp:coreProperties>
</file>